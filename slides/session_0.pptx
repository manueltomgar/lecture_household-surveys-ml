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57" r:id="rId2"/>
    <p:sldId id="325" r:id="rId3"/>
    <p:sldId id="326" r:id="rId4"/>
    <p:sldId id="323" r:id="rId5"/>
    <p:sldId id="324" r:id="rId6"/>
    <p:sldId id="327" r:id="rId7"/>
    <p:sldId id="32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0F9629-500E-4D75-BE33-F82BA5AECF19}" type="datetimeFigureOut">
              <a:rPr lang="en-GB" smtClean="0"/>
              <a:t>09/06/2026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F13E8-CB17-4EF3-9C23-5EC152F83932}" type="slidenum">
              <a:rPr lang="en-GB" smtClean="0"/>
              <a:t>‹#›</a:t>
            </a:fld>
            <a:endParaRPr lang="en-GB"/>
          </a:p>
        </p:txBody>
      </p:sp>
    </p:spTree>
    <p:extLst>
      <p:ext uri="{BB962C8B-B14F-4D97-AF65-F5344CB8AC3E}">
        <p14:creationId xmlns:p14="http://schemas.microsoft.com/office/powerpoint/2010/main" val="483276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96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5108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Session 0: Introduction.</a:t>
            </a:r>
            <a:r>
              <a:rPr lang="en-GB" baseline="0" dirty="0"/>
              <a:t> </a:t>
            </a:r>
            <a:r>
              <a:rPr lang="en-GB" dirty="0"/>
              <a:t>The course begins with a short introduction to the objectives of the session, the structure of the hands-on exercises and the overall logic of the course.</a:t>
            </a:r>
          </a:p>
          <a:p>
            <a:endParaRPr lang="en-GB" dirty="0"/>
          </a:p>
          <a:p>
            <a:r>
              <a:rPr lang="en-GB" dirty="0"/>
              <a:t>Session 1: Household surveys and main indicators. This block introduces the main household-level data sources used to study energy poverty and household energy demand. It covers public survey sources such as the Household Budget Survey, EU-SILC, national household budget surveys and energy-use surveys. The session also introduces the main indicators that can be calculated from survey microdata.</a:t>
            </a:r>
          </a:p>
          <a:p>
            <a:endParaRPr lang="en-GB" dirty="0"/>
          </a:p>
          <a:p>
            <a:r>
              <a:rPr lang="en-GB" dirty="0"/>
              <a:t>Hands-on 1: Survey microdata and indicator calculation. Participants work with real Spanish Household Budget Survey data. The practical exercise focuses on downloading the microdata, understanding the structure of the dataset, identifying relevant household variables and calculating basic energy poverty and expenditure indicators.</a:t>
            </a:r>
          </a:p>
          <a:p>
            <a:endParaRPr lang="en-GB" dirty="0"/>
          </a:p>
          <a:p>
            <a:r>
              <a:rPr lang="en-GB" dirty="0"/>
              <a:t>Session 2: Models, training and comparison. This block introduces modelling approaches for analysing household energy poverty and energy demand. It covers the basic modelling workflow, including model specification, training, validation and comparison of results.</a:t>
            </a:r>
          </a:p>
          <a:p>
            <a:endParaRPr lang="en-GB" dirty="0"/>
          </a:p>
          <a:p>
            <a:r>
              <a:rPr lang="en-GB" dirty="0"/>
              <a:t>Hands-on 2: Modelling energy poverty and energy demand. Participants apply simple modelling techniques to analyse energy poverty, electricity demand and gas demand. The exercise is implemented in R and is designed to connect the indicators calculated in the first hands-on session with empirical modelling.</a:t>
            </a:r>
          </a:p>
          <a:p>
            <a:endParaRPr lang="en-GB" dirty="0"/>
          </a:p>
          <a:p>
            <a:r>
              <a:rPr lang="en-GB" dirty="0"/>
              <a:t>Session 3: Applications, policy targeting and literature examples. The final theoretical block discusses how survey-based indicators and models can be used for policy analysis. It presents examples from the literature and shows how empirical results can support policy targeting, interpretation and evaluation. </a:t>
            </a:r>
          </a:p>
          <a:p>
            <a:endParaRPr lang="en-GB" dirty="0"/>
          </a:p>
          <a:p>
            <a:r>
              <a:rPr lang="en-GB" dirty="0"/>
              <a:t>Open discussion and brainstorming. The course concludes with an open discussion on potential research questions. Participants are invited to brainstorm which research and policy questions could be answered using household survey microdata, indicators and </a:t>
            </a:r>
            <a:r>
              <a:rPr lang="en-GB" dirty="0" err="1"/>
              <a:t>models.Practical</a:t>
            </a:r>
            <a:r>
              <a:rPr lang="en-GB" dirty="0"/>
              <a:t> </a:t>
            </a:r>
            <a:r>
              <a:rPr lang="en-GB" dirty="0" err="1"/>
              <a:t>materialsEach</a:t>
            </a:r>
            <a:r>
              <a:rPr lang="en-GB" dirty="0"/>
              <a:t> hands-on exercise includes both unsolved and solved R scripts, allowing participants to first work through the exercises independently and then compare their results with a complete reference solution.</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974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6489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0473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1882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689427"/>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nuel.tomas@bc3research.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emf"/><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c3LC/lecture_household-surveys-m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r-project.or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rstudio.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822960" cy="6858000"/>
          </a:xfrm>
          <a:prstGeom prst="rect">
            <a:avLst/>
          </a:prstGeom>
          <a:solidFill>
            <a:srgbClr val="123B66"/>
          </a:solidFill>
          <a:ln w="12700">
            <a:solidFill>
              <a:srgbClr val="123B66"/>
            </a:solidFill>
            <a:prstDash val="solid"/>
          </a:ln>
        </p:spPr>
      </p:sp>
      <p:sp>
        <p:nvSpPr>
          <p:cNvPr id="4" name="Text 2"/>
          <p:cNvSpPr/>
          <p:nvPr/>
        </p:nvSpPr>
        <p:spPr>
          <a:xfrm>
            <a:off x="1239138" y="735035"/>
            <a:ext cx="10328021" cy="109728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23B66"/>
                </a:solidFill>
                <a:effectLst/>
                <a:uLnTx/>
                <a:uFillTx/>
                <a:latin typeface="Arial" pitchFamily="34" charset="0"/>
                <a:ea typeface="Arial" pitchFamily="34" charset="-122"/>
                <a:cs typeface="Arial" pitchFamily="34" charset="-120"/>
              </a:rPr>
              <a:t>Using statistical learning models with household survey microdata</a:t>
            </a:r>
            <a:endParaRPr kumimoji="0" lang="en-US" sz="3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5" name="Text 3"/>
          <p:cNvSpPr/>
          <p:nvPr/>
        </p:nvSpPr>
        <p:spPr>
          <a:xfrm>
            <a:off x="1239138" y="1923755"/>
            <a:ext cx="10328021" cy="59436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srgbClr val="666666"/>
                </a:solidFill>
                <a:effectLst/>
                <a:uLnTx/>
                <a:uFillTx/>
                <a:latin typeface="Arial"/>
                <a:ea typeface="Times New Roman" pitchFamily="34" charset="-122"/>
                <a:cs typeface="Times New Roman" pitchFamily="34" charset="-120"/>
              </a:rPr>
              <a:t>Applications to energy demand, energy poverty, and environmental taxation</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Shape 4"/>
          <p:cNvSpPr/>
          <p:nvPr/>
        </p:nvSpPr>
        <p:spPr>
          <a:xfrm>
            <a:off x="777240" y="2655275"/>
            <a:ext cx="10789920" cy="0"/>
          </a:xfrm>
          <a:prstGeom prst="line">
            <a:avLst/>
          </a:prstGeom>
          <a:noFill/>
          <a:ln w="15875">
            <a:solidFill>
              <a:srgbClr val="123B66"/>
            </a:solidFill>
            <a:prstDash val="solid"/>
          </a:ln>
        </p:spPr>
      </p:sp>
      <p:sp>
        <p:nvSpPr>
          <p:cNvPr id="7" name="Text 5"/>
          <p:cNvSpPr/>
          <p:nvPr/>
        </p:nvSpPr>
        <p:spPr>
          <a:xfrm>
            <a:off x="2145323" y="2971681"/>
            <a:ext cx="8385400" cy="1116739"/>
          </a:xfrm>
          <a:prstGeom prst="rect">
            <a:avLst/>
          </a:prstGeom>
          <a:noFill/>
          <a:ln/>
        </p:spPr>
        <p:txBody>
          <a:bodyPr wrap="square" lIns="635" tIns="635" rIns="635" bIns="635"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Instructor: Manuel Tomás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Contact: </a:t>
            </a:r>
            <a:r>
              <a:rPr kumimoji="0" lang="en-US" sz="1400" b="0" i="0"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hlinkClick r:id="rId3"/>
              </a:rPr>
              <a:t>manuel.tomas@bc3research.org</a:t>
            </a:r>
            <a:endParaRPr kumimoji="0" lang="en-US" sz="1400" b="0" i="0"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Date: Wednesday, June 10, 2026</a:t>
            </a:r>
          </a:p>
        </p:txBody>
      </p:sp>
      <p:sp>
        <p:nvSpPr>
          <p:cNvPr id="11" name="Text 5"/>
          <p:cNvSpPr/>
          <p:nvPr/>
        </p:nvSpPr>
        <p:spPr>
          <a:xfrm>
            <a:off x="3778128" y="4535152"/>
            <a:ext cx="4493562" cy="1501029"/>
          </a:xfrm>
          <a:prstGeom prst="rect">
            <a:avLst/>
          </a:prstGeom>
          <a:noFill/>
          <a:ln/>
        </p:spPr>
        <p:txBody>
          <a:bodyPr wrap="square" lIns="635" tIns="635" rIns="635" bIns="635" rtlCol="0" anchor="ctr">
            <a:normAutofit fontScale="925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2200" b="1" i="0" u="none" strike="noStrike" kern="1200" cap="none" spc="0" normalizeH="0" baseline="0" noProof="0" dirty="0" err="1">
                <a:ln>
                  <a:noFill/>
                </a:ln>
                <a:solidFill>
                  <a:srgbClr val="111111"/>
                </a:solidFill>
                <a:effectLst/>
                <a:uLnTx/>
                <a:uFillTx/>
                <a:latin typeface="Arial"/>
                <a:ea typeface="Times New Roman" pitchFamily="34" charset="-122"/>
                <a:cs typeface="Times New Roman" pitchFamily="34" charset="-120"/>
              </a:rPr>
              <a:t>EAERE</a:t>
            </a:r>
            <a:r>
              <a:rPr kumimoji="0" lang="en-GB" sz="2200" b="1" i="0" u="none" strike="noStrike" kern="1200" cap="none" spc="0" normalizeH="0" baseline="0" noProof="0" dirty="0">
                <a:ln>
                  <a:noFill/>
                </a:ln>
                <a:solidFill>
                  <a:srgbClr val="111111"/>
                </a:solidFill>
                <a:effectLst/>
                <a:uLnTx/>
                <a:uFillTx/>
                <a:latin typeface="Arial"/>
                <a:ea typeface="Times New Roman" pitchFamily="34" charset="-122"/>
                <a:cs typeface="Times New Roman" pitchFamily="34" charset="-120"/>
              </a:rPr>
              <a:t> Summer School in Resource and Environmental Economics 2026</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GB" sz="700" b="1" i="0" u="none" strike="noStrike" kern="1200" cap="none" spc="0" normalizeH="0" baseline="0" noProof="0" dirty="0">
              <a:ln>
                <a:noFill/>
              </a:ln>
              <a:solidFill>
                <a:srgbClr val="111111"/>
              </a:solidFill>
              <a:effectLst/>
              <a:uLnTx/>
              <a:uFillTx/>
              <a:latin typeface="Arial"/>
              <a:ea typeface="Times New Roman" pitchFamily="34" charset="-122"/>
              <a:cs typeface="Times New Roman" pitchFamily="34" charset="-120"/>
            </a:endParaRP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11111"/>
                </a:solidFill>
                <a:effectLst/>
                <a:uLnTx/>
                <a:uFillTx/>
                <a:latin typeface="Arial"/>
                <a:ea typeface="Times New Roman" pitchFamily="34" charset="-122"/>
                <a:cs typeface="Times New Roman" pitchFamily="34" charset="-120"/>
              </a:rPr>
              <a:t>Recent applications of AI in Environmental and Resource Economics</a:t>
            </a:r>
            <a:endParaRPr kumimoji="0" lang="en-US" sz="1400" b="1" i="0" u="none" strike="noStrike" kern="1200" cap="none" spc="0" normalizeH="0" baseline="0" noProof="0" dirty="0">
              <a:ln>
                <a:noFill/>
              </a:ln>
              <a:solidFill>
                <a:srgbClr val="111111"/>
              </a:solidFill>
              <a:effectLst/>
              <a:uLnTx/>
              <a:uFillTx/>
              <a:latin typeface="Arial"/>
              <a:ea typeface="Times New Roman" pitchFamily="34" charset="-122"/>
              <a:cs typeface="Times New Roman" pitchFamily="34" charset="-120"/>
            </a:endParaRPr>
          </a:p>
        </p:txBody>
      </p:sp>
      <p:pic>
        <p:nvPicPr>
          <p:cNvPr id="12" name="Picture 11"/>
          <p:cNvPicPr>
            <a:picLocks noChangeAspect="1"/>
          </p:cNvPicPr>
          <p:nvPr/>
        </p:nvPicPr>
        <p:blipFill>
          <a:blip r:embed="rId4">
            <a:lum bright="-20000" contrast="40000"/>
          </a:blip>
          <a:stretch>
            <a:fillRect/>
          </a:stretch>
        </p:blipFill>
        <p:spPr>
          <a:xfrm>
            <a:off x="1239139" y="5285667"/>
            <a:ext cx="2538989" cy="1080000"/>
          </a:xfrm>
          <a:prstGeom prst="rect">
            <a:avLst/>
          </a:prstGeom>
        </p:spPr>
      </p:pic>
      <p:pic>
        <p:nvPicPr>
          <p:cNvPr id="13" name="Picture 12"/>
          <p:cNvPicPr>
            <a:picLocks noChangeAspect="1"/>
          </p:cNvPicPr>
          <p:nvPr/>
        </p:nvPicPr>
        <p:blipFill>
          <a:blip r:embed="rId5">
            <a:lum bright="-20000" contrast="40000"/>
          </a:blip>
          <a:stretch>
            <a:fillRect/>
          </a:stretch>
        </p:blipFill>
        <p:spPr>
          <a:xfrm>
            <a:off x="8340788" y="5455211"/>
            <a:ext cx="3226372" cy="864000"/>
          </a:xfrm>
          <a:prstGeom prst="rect">
            <a:avLst/>
          </a:prstGeom>
        </p:spPr>
      </p:pic>
      <p:pic>
        <p:nvPicPr>
          <p:cNvPr id="14" name="Picture 13"/>
          <p:cNvPicPr>
            <a:picLocks noChangeAspect="1"/>
          </p:cNvPicPr>
          <p:nvPr/>
        </p:nvPicPr>
        <p:blipFill>
          <a:blip r:embed="rId6">
            <a:lum bright="-20000" contrast="40000"/>
          </a:blip>
          <a:stretch>
            <a:fillRect/>
          </a:stretch>
        </p:blipFill>
        <p:spPr>
          <a:xfrm>
            <a:off x="6203209" y="3106471"/>
            <a:ext cx="3061819" cy="86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386841" y="1417320"/>
            <a:ext cx="10698480" cy="68580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23B66"/>
                </a:solidFill>
                <a:effectLst/>
                <a:uLnTx/>
                <a:uFillTx/>
                <a:latin typeface="Arial" pitchFamily="34" charset="0"/>
                <a:ea typeface="Arial" pitchFamily="34" charset="-122"/>
                <a:cs typeface="Arial" pitchFamily="34" charset="-120"/>
              </a:rPr>
              <a:t>Session 0</a:t>
            </a:r>
            <a:endParaRPr kumimoji="0" lang="en-US" sz="3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5" name="Text 3"/>
          <p:cNvSpPr/>
          <p:nvPr/>
        </p:nvSpPr>
        <p:spPr>
          <a:xfrm>
            <a:off x="1414273" y="2148840"/>
            <a:ext cx="10424160" cy="5029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666666"/>
                </a:solidFill>
                <a:effectLst/>
                <a:uLnTx/>
                <a:uFillTx/>
                <a:latin typeface="Times New Roman" pitchFamily="34" charset="0"/>
                <a:ea typeface="Times New Roman" pitchFamily="34" charset="-122"/>
                <a:cs typeface="Times New Roman" pitchFamily="34" charset="-120"/>
              </a:rPr>
              <a:t>Introduction</a:t>
            </a:r>
            <a:endParaRPr kumimoji="0" lang="en-US" sz="20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11" name="Shape 4"/>
          <p:cNvSpPr/>
          <p:nvPr/>
        </p:nvSpPr>
        <p:spPr>
          <a:xfrm>
            <a:off x="270933" y="2651760"/>
            <a:ext cx="11296227" cy="3515"/>
          </a:xfrm>
          <a:prstGeom prst="line">
            <a:avLst/>
          </a:prstGeom>
          <a:noFill/>
          <a:ln w="15875">
            <a:solidFill>
              <a:srgbClr val="123B66"/>
            </a:solidFill>
            <a:prstDash val="solid"/>
          </a:ln>
        </p:spPr>
      </p:sp>
      <p:sp>
        <p:nvSpPr>
          <p:cNvPr id="15" name="Shape 3"/>
          <p:cNvSpPr/>
          <p:nvPr/>
        </p:nvSpPr>
        <p:spPr>
          <a:xfrm>
            <a:off x="502920" y="6382512"/>
            <a:ext cx="11155680" cy="0"/>
          </a:xfrm>
          <a:prstGeom prst="line">
            <a:avLst/>
          </a:prstGeom>
          <a:noFill/>
          <a:ln w="9525">
            <a:solidFill>
              <a:srgbClr val="B8C6D1"/>
            </a:solidFill>
            <a:prstDash val="solid"/>
          </a:ln>
        </p:spPr>
      </p:sp>
      <p:sp>
        <p:nvSpPr>
          <p:cNvPr id="16" name="Text 4"/>
          <p:cNvSpPr/>
          <p:nvPr/>
        </p:nvSpPr>
        <p:spPr>
          <a:xfrm>
            <a:off x="977052" y="6455664"/>
            <a:ext cx="9052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Using statistical learning models with household survey microdata</a:t>
            </a:r>
          </a:p>
        </p:txBody>
      </p:sp>
      <p:sp>
        <p:nvSpPr>
          <p:cNvPr id="17" name="Text 5"/>
          <p:cNvSpPr/>
          <p:nvPr/>
        </p:nvSpPr>
        <p:spPr>
          <a:xfrm>
            <a:off x="11155680" y="6455664"/>
            <a:ext cx="50292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2</a:t>
            </a:r>
            <a:endParaRPr kumimoji="0" lang="en-US" sz="10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18" name="Shape 1"/>
          <p:cNvSpPr/>
          <p:nvPr/>
        </p:nvSpPr>
        <p:spPr>
          <a:xfrm>
            <a:off x="0" y="0"/>
            <a:ext cx="822960" cy="6858000"/>
          </a:xfrm>
          <a:prstGeom prst="rect">
            <a:avLst/>
          </a:prstGeom>
          <a:solidFill>
            <a:srgbClr val="123B66"/>
          </a:solidFill>
          <a:ln w="12700">
            <a:solidFill>
              <a:srgbClr val="123B66"/>
            </a:solidFill>
            <a:prstDash val="solid"/>
          </a:ln>
        </p:spPr>
      </p:sp>
    </p:spTree>
    <p:extLst>
      <p:ext uri="{BB962C8B-B14F-4D97-AF65-F5344CB8AC3E}">
        <p14:creationId xmlns:p14="http://schemas.microsoft.com/office/powerpoint/2010/main" val="351736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123B66"/>
          </a:solidFill>
          <a:ln w="12700">
            <a:solidFill>
              <a:srgbClr val="123B66"/>
            </a:solidFill>
            <a:prstDash val="solid"/>
          </a:ln>
        </p:spPr>
      </p:sp>
      <p:sp>
        <p:nvSpPr>
          <p:cNvPr id="3" name="Text 1"/>
          <p:cNvSpPr/>
          <p:nvPr/>
        </p:nvSpPr>
        <p:spPr>
          <a:xfrm>
            <a:off x="502920" y="137160"/>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Arial" pitchFamily="34" charset="0"/>
                <a:ea typeface="Arial" pitchFamily="34" charset="-122"/>
                <a:cs typeface="Arial" pitchFamily="34" charset="-120"/>
              </a:rPr>
              <a:t>Session 0: Introduction</a:t>
            </a:r>
            <a:endParaRPr kumimoji="0" lang="en-US" sz="1400" b="0" i="0" u="none" strike="noStrike" kern="1200" cap="none" spc="0" normalizeH="0" baseline="0" noProof="0" dirty="0">
              <a:ln>
                <a:noFill/>
              </a:ln>
              <a:solidFill>
                <a:prstClr val="white">
                  <a:lumMod val="95000"/>
                </a:prstClr>
              </a:solidFill>
              <a:effectLst/>
              <a:uLnTx/>
              <a:uFillTx/>
              <a:latin typeface="Times New Roman"/>
              <a:ea typeface="+mn-ea"/>
              <a:cs typeface="+mn-cs"/>
            </a:endParaRPr>
          </a:p>
        </p:txBody>
      </p:sp>
      <p:sp>
        <p:nvSpPr>
          <p:cNvPr id="5" name="Shape 3"/>
          <p:cNvSpPr/>
          <p:nvPr/>
        </p:nvSpPr>
        <p:spPr>
          <a:xfrm>
            <a:off x="502920" y="6382512"/>
            <a:ext cx="11155680" cy="0"/>
          </a:xfrm>
          <a:prstGeom prst="line">
            <a:avLst/>
          </a:prstGeom>
          <a:noFill/>
          <a:ln w="9525">
            <a:solidFill>
              <a:srgbClr val="B8C6D1"/>
            </a:solidFill>
            <a:prstDash val="solid"/>
          </a:ln>
        </p:spPr>
      </p:sp>
      <p:sp>
        <p:nvSpPr>
          <p:cNvPr id="8" name="Text 6"/>
          <p:cNvSpPr/>
          <p:nvPr/>
        </p:nvSpPr>
        <p:spPr>
          <a:xfrm>
            <a:off x="502920" y="393192"/>
            <a:ext cx="1115568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3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Getting to know each other</a:t>
            </a:r>
          </a:p>
        </p:txBody>
      </p:sp>
      <p:sp>
        <p:nvSpPr>
          <p:cNvPr id="10" name="Shape 8"/>
          <p:cNvSpPr/>
          <p:nvPr/>
        </p:nvSpPr>
        <p:spPr>
          <a:xfrm>
            <a:off x="502920" y="1115568"/>
            <a:ext cx="11155680" cy="0"/>
          </a:xfrm>
          <a:prstGeom prst="line">
            <a:avLst/>
          </a:prstGeom>
          <a:noFill/>
          <a:ln w="12700">
            <a:solidFill>
              <a:srgbClr val="123B66"/>
            </a:solidFill>
            <a:prstDash val="solid"/>
          </a:ln>
        </p:spPr>
      </p:sp>
      <p:sp>
        <p:nvSpPr>
          <p:cNvPr id="12" name="Shape 10"/>
          <p:cNvSpPr/>
          <p:nvPr/>
        </p:nvSpPr>
        <p:spPr>
          <a:xfrm>
            <a:off x="6099048" y="1243584"/>
            <a:ext cx="0" cy="4919472"/>
          </a:xfrm>
          <a:prstGeom prst="line">
            <a:avLst/>
          </a:prstGeom>
          <a:noFill/>
          <a:ln w="10160">
            <a:solidFill>
              <a:srgbClr val="DDDDDD"/>
            </a:solidFill>
            <a:prstDash val="solid"/>
          </a:ln>
        </p:spPr>
      </p:sp>
      <p:sp>
        <p:nvSpPr>
          <p:cNvPr id="13" name="Text 11"/>
          <p:cNvSpPr/>
          <p:nvPr/>
        </p:nvSpPr>
        <p:spPr>
          <a:xfrm>
            <a:off x="6327648" y="1261872"/>
            <a:ext cx="5349240" cy="4892040"/>
          </a:xfrm>
          <a:prstGeom prst="rect">
            <a:avLst/>
          </a:prstGeom>
          <a:noFill/>
          <a:ln/>
        </p:spPr>
        <p:txBody>
          <a:bodyPr wrap="square" lIns="762" tIns="762" rIns="762" bIns="762"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Times New Roman"/>
              <a:ea typeface="+mn-ea"/>
              <a:cs typeface="+mn-cs"/>
            </a:endParaRP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4736" y="1842630"/>
            <a:ext cx="3456000" cy="2304000"/>
          </a:xfrm>
          <a:prstGeom prst="rect">
            <a:avLst/>
          </a:prstGeom>
        </p:spPr>
      </p:pic>
      <p:sp>
        <p:nvSpPr>
          <p:cNvPr id="15" name="Rectangle 14"/>
          <p:cNvSpPr/>
          <p:nvPr/>
        </p:nvSpPr>
        <p:spPr>
          <a:xfrm>
            <a:off x="406400" y="4348678"/>
            <a:ext cx="5692648" cy="1323417"/>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Postdoctoral researcher </a:t>
            </a:r>
            <a:r>
              <a:rPr kumimoji="0" lang="en-GB" sz="120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at the Basque Centre for Climate Change.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PhD in Economics </a:t>
            </a:r>
            <a:r>
              <a:rPr kumimoji="0" lang="en-GB" sz="120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from the University of the Basque Country.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Research interest: </a:t>
            </a:r>
            <a:r>
              <a:rPr kumimoji="0" lang="en-GB" sz="120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distributional impacts of energy and climate policies.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Applied expertise</a:t>
            </a:r>
            <a:r>
              <a:rPr kumimoji="0" lang="en-GB" sz="120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 use of SL models in R with household survey data.</a:t>
            </a:r>
          </a:p>
        </p:txBody>
      </p:sp>
      <p:sp>
        <p:nvSpPr>
          <p:cNvPr id="16" name="Text 6"/>
          <p:cNvSpPr/>
          <p:nvPr/>
        </p:nvSpPr>
        <p:spPr>
          <a:xfrm>
            <a:off x="2399866" y="1568311"/>
            <a:ext cx="1811647" cy="201168"/>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666666"/>
                </a:solidFill>
                <a:effectLst/>
                <a:uLnTx/>
                <a:uFillTx/>
                <a:latin typeface="Georgia" pitchFamily="34" charset="0"/>
                <a:ea typeface="Georgia" pitchFamily="34" charset="-122"/>
                <a:cs typeface="Georgia" pitchFamily="34" charset="-120"/>
              </a:rPr>
              <a:t>A few words about me</a:t>
            </a:r>
            <a:endParaRPr kumimoji="0" lang="en-US" sz="135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17" name="Text 6"/>
          <p:cNvSpPr/>
          <p:nvPr/>
        </p:nvSpPr>
        <p:spPr>
          <a:xfrm>
            <a:off x="8092089" y="1568311"/>
            <a:ext cx="1811647" cy="201168"/>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666666"/>
                </a:solidFill>
                <a:effectLst/>
                <a:uLnTx/>
                <a:uFillTx/>
                <a:latin typeface="Georgia" pitchFamily="34" charset="0"/>
                <a:ea typeface="Georgia" pitchFamily="34" charset="-122"/>
                <a:cs typeface="Georgia" pitchFamily="34" charset="-120"/>
              </a:rPr>
              <a:t>A few words about you</a:t>
            </a:r>
            <a:endParaRPr kumimoji="0" lang="en-US" sz="135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18" name="Rectangle 17"/>
          <p:cNvSpPr/>
          <p:nvPr/>
        </p:nvSpPr>
        <p:spPr>
          <a:xfrm>
            <a:off x="6516896" y="1825794"/>
            <a:ext cx="4962031" cy="1754326"/>
          </a:xfrm>
          <a:prstGeom prst="rect">
            <a:avLst/>
          </a:prstGeom>
        </p:spPr>
        <p:txBody>
          <a:bodyPr wrap="square">
            <a:sp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111111"/>
                </a:solidFill>
                <a:effectLst/>
                <a:uLnTx/>
                <a:uFillTx/>
                <a:latin typeface="Georgia" panose="02040502050405020303" pitchFamily="18" charset="0"/>
                <a:ea typeface="Georgia" pitchFamily="34" charset="-122"/>
                <a:cs typeface="Georgia" pitchFamily="34" charset="-120"/>
              </a:rPr>
              <a:t>Briefly introduce yourself.</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111111"/>
                </a:solidFill>
                <a:effectLst/>
                <a:uLnTx/>
                <a:uFillTx/>
                <a:latin typeface="Georgia" panose="02040502050405020303" pitchFamily="18" charset="0"/>
                <a:ea typeface="Georgia" pitchFamily="34" charset="-122"/>
                <a:cs typeface="Georgia" pitchFamily="34" charset="-120"/>
              </a:rPr>
              <a:t>What are your research interests?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srgbClr val="111111"/>
                </a:solidFill>
                <a:effectLst/>
                <a:uLnTx/>
                <a:uFillTx/>
                <a:latin typeface="Georgia" panose="02040502050405020303" pitchFamily="18" charset="0"/>
                <a:ea typeface="Georgia" pitchFamily="34" charset="-122"/>
                <a:cs typeface="Georgia" pitchFamily="34" charset="-120"/>
              </a:rPr>
              <a:t>Self-assessment: rate your experience as low, medium, or high:</a:t>
            </a:r>
          </a:p>
          <a:p>
            <a:pPr marL="628650" marR="0" lvl="1" indent="-1714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111111"/>
                </a:solidFill>
                <a:effectLst/>
                <a:uLnTx/>
                <a:uFillTx/>
                <a:latin typeface="Georgia" panose="02040502050405020303" pitchFamily="18" charset="0"/>
                <a:ea typeface="Georgia" pitchFamily="34" charset="-122"/>
                <a:cs typeface="Georgia" pitchFamily="34" charset="-120"/>
              </a:rPr>
              <a:t>Statistical learning models.</a:t>
            </a:r>
            <a:endParaRPr kumimoji="0" lang="en-US" sz="120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a:p>
            <a:pPr marL="628650" marR="0" lvl="1" indent="-1714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111111"/>
                </a:solidFill>
                <a:effectLst/>
                <a:uLnTx/>
                <a:uFillTx/>
                <a:latin typeface="Georgia" panose="02040502050405020303" pitchFamily="18" charset="0"/>
                <a:ea typeface="Georgia" pitchFamily="34" charset="-122"/>
                <a:cs typeface="Georgia" pitchFamily="34" charset="-120"/>
              </a:rPr>
              <a:t>Programming in R (or other languages)</a:t>
            </a:r>
          </a:p>
          <a:p>
            <a:pPr marL="628650" marR="0" lvl="1" indent="-1714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srgbClr val="111111"/>
                </a:solidFill>
                <a:effectLst/>
                <a:uLnTx/>
                <a:uFillTx/>
                <a:latin typeface="Georgia" panose="02040502050405020303" pitchFamily="18" charset="0"/>
                <a:ea typeface="Georgia" pitchFamily="34" charset="-122"/>
                <a:cs typeface="Georgia" pitchFamily="34" charset="-120"/>
              </a:rPr>
              <a:t>Household survey microdata.</a:t>
            </a:r>
          </a:p>
        </p:txBody>
      </p:sp>
      <p:pic>
        <p:nvPicPr>
          <p:cNvPr id="23" name="Picture 22"/>
          <p:cNvPicPr>
            <a:picLocks noChangeAspect="1"/>
          </p:cNvPicPr>
          <p:nvPr/>
        </p:nvPicPr>
        <p:blipFill>
          <a:blip r:embed="rId4"/>
          <a:stretch>
            <a:fillRect/>
          </a:stretch>
        </p:blipFill>
        <p:spPr>
          <a:xfrm>
            <a:off x="8216861" y="3574248"/>
            <a:ext cx="1562100" cy="2324100"/>
          </a:xfrm>
          <a:prstGeom prst="rect">
            <a:avLst/>
          </a:prstGeom>
        </p:spPr>
      </p:pic>
      <p:sp>
        <p:nvSpPr>
          <p:cNvPr id="24" name="Text 4"/>
          <p:cNvSpPr/>
          <p:nvPr/>
        </p:nvSpPr>
        <p:spPr>
          <a:xfrm>
            <a:off x="525492" y="6455664"/>
            <a:ext cx="9052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Using statistical learning models with household survey microdata</a:t>
            </a:r>
          </a:p>
        </p:txBody>
      </p:sp>
      <p:sp>
        <p:nvSpPr>
          <p:cNvPr id="25" name="Text 5"/>
          <p:cNvSpPr/>
          <p:nvPr/>
        </p:nvSpPr>
        <p:spPr>
          <a:xfrm>
            <a:off x="11155680" y="6455664"/>
            <a:ext cx="50292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Arial" pitchFamily="34" charset="0"/>
                <a:ea typeface="+mn-ea"/>
                <a:cs typeface="Arial" pitchFamily="34" charset="-120"/>
              </a:rPr>
              <a:t>3</a:t>
            </a:r>
            <a:endParaRPr kumimoji="0" lang="en-US" sz="1000" b="0" i="0" u="none" strike="noStrike" kern="1200" cap="none" spc="0" normalizeH="0" baseline="0" noProof="0" dirty="0">
              <a:ln>
                <a:noFill/>
              </a:ln>
              <a:solidFill>
                <a:prstClr val="black"/>
              </a:solidFill>
              <a:effectLst/>
              <a:uLnTx/>
              <a:uFillTx/>
              <a:latin typeface="Times New Roman"/>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123B66"/>
          </a:solidFill>
          <a:ln w="12700">
            <a:solidFill>
              <a:srgbClr val="123B66"/>
            </a:solidFill>
            <a:prstDash val="solid"/>
          </a:ln>
        </p:spPr>
      </p:sp>
      <p:sp>
        <p:nvSpPr>
          <p:cNvPr id="3" name="Text 1"/>
          <p:cNvSpPr/>
          <p:nvPr/>
        </p:nvSpPr>
        <p:spPr>
          <a:xfrm>
            <a:off x="502920" y="137160"/>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Arial" pitchFamily="34" charset="0"/>
                <a:ea typeface="Arial" pitchFamily="34" charset="-122"/>
                <a:cs typeface="Arial" pitchFamily="34" charset="-120"/>
              </a:rPr>
              <a:t>Session 0: Introduction</a:t>
            </a:r>
            <a:endParaRPr kumimoji="0" lang="en-US" sz="1400" b="0" i="0" u="none" strike="noStrike" kern="1200" cap="none" spc="0" normalizeH="0" baseline="0" noProof="0" dirty="0">
              <a:ln>
                <a:noFill/>
              </a:ln>
              <a:solidFill>
                <a:prstClr val="white">
                  <a:lumMod val="95000"/>
                </a:prstClr>
              </a:solidFill>
              <a:effectLst/>
              <a:uLnTx/>
              <a:uFillTx/>
              <a:latin typeface="Times New Roman"/>
              <a:ea typeface="+mn-ea"/>
              <a:cs typeface="+mn-cs"/>
            </a:endParaRPr>
          </a:p>
        </p:txBody>
      </p:sp>
      <p:sp>
        <p:nvSpPr>
          <p:cNvPr id="5" name="Shape 3"/>
          <p:cNvSpPr/>
          <p:nvPr/>
        </p:nvSpPr>
        <p:spPr>
          <a:xfrm>
            <a:off x="502920" y="6382512"/>
            <a:ext cx="11155680" cy="0"/>
          </a:xfrm>
          <a:prstGeom prst="line">
            <a:avLst/>
          </a:prstGeom>
          <a:noFill/>
          <a:ln w="9525">
            <a:solidFill>
              <a:srgbClr val="B8C6D1"/>
            </a:solidFill>
            <a:prstDash val="solid"/>
          </a:ln>
        </p:spPr>
      </p:sp>
      <p:sp>
        <p:nvSpPr>
          <p:cNvPr id="8" name="Text 6"/>
          <p:cNvSpPr/>
          <p:nvPr/>
        </p:nvSpPr>
        <p:spPr>
          <a:xfrm>
            <a:off x="502920" y="393192"/>
            <a:ext cx="1115568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3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Learning objectives</a:t>
            </a:r>
          </a:p>
        </p:txBody>
      </p:sp>
      <p:sp>
        <p:nvSpPr>
          <p:cNvPr id="10" name="Shape 8"/>
          <p:cNvSpPr/>
          <p:nvPr/>
        </p:nvSpPr>
        <p:spPr>
          <a:xfrm>
            <a:off x="502920" y="1115568"/>
            <a:ext cx="11155680" cy="0"/>
          </a:xfrm>
          <a:prstGeom prst="line">
            <a:avLst/>
          </a:prstGeom>
          <a:noFill/>
          <a:ln w="12700">
            <a:solidFill>
              <a:srgbClr val="123B66"/>
            </a:solidFill>
            <a:prstDash val="solid"/>
          </a:ln>
        </p:spPr>
      </p:sp>
      <p:sp>
        <p:nvSpPr>
          <p:cNvPr id="13" name="Text 11"/>
          <p:cNvSpPr/>
          <p:nvPr/>
        </p:nvSpPr>
        <p:spPr>
          <a:xfrm>
            <a:off x="6327648" y="1261872"/>
            <a:ext cx="5349240" cy="4892040"/>
          </a:xfrm>
          <a:prstGeom prst="rect">
            <a:avLst/>
          </a:prstGeom>
          <a:noFill/>
          <a:ln/>
        </p:spPr>
        <p:txBody>
          <a:bodyPr wrap="square" lIns="762" tIns="762" rIns="762" bIns="762"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15" name="Rectangle 14"/>
          <p:cNvSpPr/>
          <p:nvPr/>
        </p:nvSpPr>
        <p:spPr>
          <a:xfrm>
            <a:off x="524712" y="1610193"/>
            <a:ext cx="9708681" cy="1403939"/>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Understand the landscape of the main public household surveys used in energy and environmental research.</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Learn how to build policy-relevant indicators from these </a:t>
            </a:r>
            <a:r>
              <a:rPr kumimoji="0" lang="en-GB" sz="1250" b="0" i="0" u="none" strike="noStrike" kern="1200" cap="none" spc="0" normalizeH="0" baseline="0" noProof="0" dirty="0" err="1">
                <a:ln>
                  <a:noFill/>
                </a:ln>
                <a:solidFill>
                  <a:prstClr val="black"/>
                </a:solidFill>
                <a:effectLst/>
                <a:uLnTx/>
                <a:uFillTx/>
                <a:latin typeface="Georgia" panose="02040502050405020303" pitchFamily="18" charset="0"/>
                <a:ea typeface="+mn-ea"/>
                <a:cs typeface="Arial" panose="020B0604020202020204" pitchFamily="34" charset="0"/>
              </a:rPr>
              <a:t>microdatasets</a:t>
            </a: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Apply statistical-learning workflows in R using household survey microdata.</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Compare classification, regression, and hurdle models.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Compute predictions to help answer policy-impact and simulation questions.</a:t>
            </a:r>
          </a:p>
        </p:txBody>
      </p:sp>
      <p:sp>
        <p:nvSpPr>
          <p:cNvPr id="19" name="Text 7"/>
          <p:cNvSpPr/>
          <p:nvPr/>
        </p:nvSpPr>
        <p:spPr>
          <a:xfrm>
            <a:off x="502920" y="1276378"/>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666666"/>
                </a:solidFill>
                <a:effectLst/>
                <a:uLnTx/>
                <a:uFillTx/>
                <a:latin typeface="Georgia" panose="02040502050405020303" pitchFamily="18" charset="0"/>
                <a:ea typeface="Times New Roman" pitchFamily="34" charset="-122"/>
                <a:cs typeface="Times New Roman" pitchFamily="34" charset="-120"/>
              </a:rPr>
              <a:t>What students should be able to do by the end of the course</a:t>
            </a:r>
            <a:endParaRPr kumimoji="0" lang="en-US" sz="135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22" name="Shape 10"/>
          <p:cNvSpPr/>
          <p:nvPr/>
        </p:nvSpPr>
        <p:spPr>
          <a:xfrm>
            <a:off x="502920" y="3129842"/>
            <a:ext cx="11155680" cy="644600"/>
          </a:xfrm>
          <a:prstGeom prst="rect">
            <a:avLst/>
          </a:prstGeom>
          <a:solidFill>
            <a:srgbClr val="F7F7F7"/>
          </a:solidFill>
          <a:ln w="6350">
            <a:solidFill>
              <a:srgbClr val="CCCCCC"/>
            </a:solidFill>
            <a:prstDash val="solid"/>
          </a:ln>
        </p:spPr>
      </p:sp>
      <p:sp>
        <p:nvSpPr>
          <p:cNvPr id="23" name="Text 11"/>
          <p:cNvSpPr/>
          <p:nvPr/>
        </p:nvSpPr>
        <p:spPr>
          <a:xfrm>
            <a:off x="698781" y="3195995"/>
            <a:ext cx="11430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B1E1E"/>
                </a:solidFill>
                <a:effectLst/>
                <a:uLnTx/>
                <a:uFillTx/>
                <a:latin typeface="Arial" pitchFamily="34" charset="0"/>
                <a:ea typeface="Arial" pitchFamily="34" charset="-122"/>
                <a:cs typeface="Arial" pitchFamily="34" charset="-120"/>
              </a:rPr>
              <a:t>Key message</a:t>
            </a:r>
            <a:endParaRPr kumimoji="0" lang="en-US" sz="1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24" name="Text 12"/>
          <p:cNvSpPr/>
          <p:nvPr/>
        </p:nvSpPr>
        <p:spPr>
          <a:xfrm>
            <a:off x="1933221" y="3213719"/>
            <a:ext cx="9235440" cy="434740"/>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This course is not a general and comprehensive introduction to (machine learning) statistical learning models.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The focus is on applying these methods to household survey data to help answer research questions in environmental economics.</a:t>
            </a:r>
            <a:endParaRPr kumimoji="0" lang="en-US"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25" name="Text 4"/>
          <p:cNvSpPr/>
          <p:nvPr/>
        </p:nvSpPr>
        <p:spPr>
          <a:xfrm>
            <a:off x="525492" y="6455664"/>
            <a:ext cx="9052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Using statistical learning models with household survey microdata</a:t>
            </a:r>
          </a:p>
        </p:txBody>
      </p:sp>
      <p:sp>
        <p:nvSpPr>
          <p:cNvPr id="26" name="Text 5"/>
          <p:cNvSpPr/>
          <p:nvPr/>
        </p:nvSpPr>
        <p:spPr>
          <a:xfrm>
            <a:off x="11155680" y="6455664"/>
            <a:ext cx="50292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Arial" pitchFamily="34" charset="0"/>
                <a:ea typeface="+mn-ea"/>
                <a:cs typeface="Arial" pitchFamily="34" charset="-120"/>
              </a:rPr>
              <a:t>4</a:t>
            </a:r>
            <a:endParaRPr kumimoji="0" lang="en-US" sz="1000" b="0" i="0" u="none" strike="noStrike" kern="1200" cap="none" spc="0" normalizeH="0" baseline="0" noProof="0" dirty="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1161656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123B66"/>
          </a:solidFill>
          <a:ln w="12700">
            <a:solidFill>
              <a:srgbClr val="123B66"/>
            </a:solidFill>
            <a:prstDash val="solid"/>
          </a:ln>
        </p:spPr>
      </p:sp>
      <p:sp>
        <p:nvSpPr>
          <p:cNvPr id="3" name="Text 1"/>
          <p:cNvSpPr/>
          <p:nvPr/>
        </p:nvSpPr>
        <p:spPr>
          <a:xfrm>
            <a:off x="502920" y="137160"/>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Arial" pitchFamily="34" charset="0"/>
                <a:ea typeface="Arial" pitchFamily="34" charset="-122"/>
                <a:cs typeface="Arial" pitchFamily="34" charset="-120"/>
              </a:rPr>
              <a:t>Session 0: Introduction</a:t>
            </a:r>
            <a:endParaRPr kumimoji="0" lang="en-US" sz="1400" b="0" i="0" u="none" strike="noStrike" kern="1200" cap="none" spc="0" normalizeH="0" baseline="0" noProof="0" dirty="0">
              <a:ln>
                <a:noFill/>
              </a:ln>
              <a:solidFill>
                <a:prstClr val="white">
                  <a:lumMod val="95000"/>
                </a:prstClr>
              </a:solidFill>
              <a:effectLst/>
              <a:uLnTx/>
              <a:uFillTx/>
              <a:latin typeface="Times New Roman"/>
              <a:ea typeface="+mn-ea"/>
              <a:cs typeface="+mn-cs"/>
            </a:endParaRPr>
          </a:p>
        </p:txBody>
      </p:sp>
      <p:sp>
        <p:nvSpPr>
          <p:cNvPr id="5" name="Shape 3"/>
          <p:cNvSpPr/>
          <p:nvPr/>
        </p:nvSpPr>
        <p:spPr>
          <a:xfrm>
            <a:off x="502920" y="6382512"/>
            <a:ext cx="11155680" cy="0"/>
          </a:xfrm>
          <a:prstGeom prst="line">
            <a:avLst/>
          </a:prstGeom>
          <a:noFill/>
          <a:ln w="9525">
            <a:solidFill>
              <a:srgbClr val="B8C6D1"/>
            </a:solidFill>
            <a:prstDash val="solid"/>
          </a:ln>
        </p:spPr>
      </p:sp>
      <p:sp>
        <p:nvSpPr>
          <p:cNvPr id="8" name="Text 6"/>
          <p:cNvSpPr/>
          <p:nvPr/>
        </p:nvSpPr>
        <p:spPr>
          <a:xfrm>
            <a:off x="502920" y="393192"/>
            <a:ext cx="1115568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3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Course structure</a:t>
            </a:r>
          </a:p>
        </p:txBody>
      </p:sp>
      <p:sp>
        <p:nvSpPr>
          <p:cNvPr id="10" name="Shape 8"/>
          <p:cNvSpPr/>
          <p:nvPr/>
        </p:nvSpPr>
        <p:spPr>
          <a:xfrm>
            <a:off x="502920" y="1115568"/>
            <a:ext cx="11155680" cy="0"/>
          </a:xfrm>
          <a:prstGeom prst="line">
            <a:avLst/>
          </a:prstGeom>
          <a:noFill/>
          <a:ln w="12700">
            <a:solidFill>
              <a:srgbClr val="123B66"/>
            </a:solidFill>
            <a:prstDash val="solid"/>
          </a:ln>
        </p:spPr>
      </p:sp>
      <p:sp>
        <p:nvSpPr>
          <p:cNvPr id="13" name="Text 11"/>
          <p:cNvSpPr/>
          <p:nvPr/>
        </p:nvSpPr>
        <p:spPr>
          <a:xfrm>
            <a:off x="6327648" y="1261872"/>
            <a:ext cx="5349240" cy="4892040"/>
          </a:xfrm>
          <a:prstGeom prst="rect">
            <a:avLst/>
          </a:prstGeom>
          <a:noFill/>
          <a:ln/>
        </p:spPr>
        <p:txBody>
          <a:bodyPr wrap="square" lIns="762" tIns="762" rIns="762" bIns="762"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15" name="Rectangle 14"/>
          <p:cNvSpPr/>
          <p:nvPr/>
        </p:nvSpPr>
        <p:spPr>
          <a:xfrm>
            <a:off x="524712" y="1486014"/>
            <a:ext cx="9708681" cy="746191"/>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Course objectives, workflow and structure of the practical sessions.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Overview of the progression: survey microdata → indicators → models → interpretation → policy questions</a:t>
            </a:r>
          </a:p>
        </p:txBody>
      </p:sp>
      <p:sp>
        <p:nvSpPr>
          <p:cNvPr id="19" name="Text 7"/>
          <p:cNvSpPr/>
          <p:nvPr/>
        </p:nvSpPr>
        <p:spPr>
          <a:xfrm>
            <a:off x="502920" y="1276378"/>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1" u="none" strike="noStrike" kern="1200" cap="none" spc="0" normalizeH="0" baseline="0" noProof="0" dirty="0">
                <a:ln>
                  <a:noFill/>
                </a:ln>
                <a:solidFill>
                  <a:srgbClr val="666666"/>
                </a:solidFill>
                <a:effectLst/>
                <a:uLnTx/>
                <a:uFillTx/>
                <a:latin typeface="Georgia" panose="02040502050405020303" pitchFamily="18" charset="0"/>
                <a:ea typeface="Times New Roman" pitchFamily="34" charset="-122"/>
                <a:cs typeface="Times New Roman" pitchFamily="34" charset="-120"/>
              </a:rPr>
              <a:t>Session 0: Introduction</a:t>
            </a:r>
            <a:endParaRPr kumimoji="0" lang="en-US" sz="135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16" name="Rectangle 15"/>
          <p:cNvSpPr/>
          <p:nvPr/>
        </p:nvSpPr>
        <p:spPr>
          <a:xfrm>
            <a:off x="546504" y="2397538"/>
            <a:ext cx="9708681" cy="1080062"/>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Public survey sources: HBS, EU-SILC, and other surveys.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Main household-level indicators for energy poverty and energy demand and distributional analysis.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Hands-on 1: Starting with household consumption microdata of Spain</a:t>
            </a:r>
          </a:p>
        </p:txBody>
      </p:sp>
      <p:sp>
        <p:nvSpPr>
          <p:cNvPr id="17" name="Text 7"/>
          <p:cNvSpPr/>
          <p:nvPr/>
        </p:nvSpPr>
        <p:spPr>
          <a:xfrm>
            <a:off x="524712" y="2206049"/>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1" u="none" strike="noStrike" kern="1200" cap="none" spc="0" normalizeH="0" baseline="0" noProof="0" dirty="0">
                <a:ln>
                  <a:noFill/>
                </a:ln>
                <a:solidFill>
                  <a:srgbClr val="666666"/>
                </a:solidFill>
                <a:effectLst/>
                <a:uLnTx/>
                <a:uFillTx/>
                <a:latin typeface="Georgia" panose="02040502050405020303" pitchFamily="18" charset="0"/>
                <a:ea typeface="Times New Roman" pitchFamily="34" charset="-122"/>
                <a:cs typeface="Times New Roman" pitchFamily="34" charset="-120"/>
              </a:rPr>
              <a:t>Session 1: Household surveys and main indicators</a:t>
            </a:r>
            <a:endParaRPr kumimoji="0" lang="en-US" sz="135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18" name="Rectangle 17"/>
          <p:cNvSpPr/>
          <p:nvPr/>
        </p:nvSpPr>
        <p:spPr>
          <a:xfrm>
            <a:off x="546504" y="3623903"/>
            <a:ext cx="9708681" cy="1080062"/>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Introduction to modelling approaches using household survey microdata.</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Models: training, validation and comparison.</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Hands-on 2: Modelling energy demand and energy poverty</a:t>
            </a:r>
          </a:p>
        </p:txBody>
      </p:sp>
      <p:sp>
        <p:nvSpPr>
          <p:cNvPr id="20" name="Text 7"/>
          <p:cNvSpPr/>
          <p:nvPr/>
        </p:nvSpPr>
        <p:spPr>
          <a:xfrm>
            <a:off x="546504" y="3477600"/>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1" u="none" strike="noStrike" kern="1200" cap="none" spc="0" normalizeH="0" baseline="0" noProof="0" dirty="0">
                <a:ln>
                  <a:noFill/>
                </a:ln>
                <a:solidFill>
                  <a:srgbClr val="666666"/>
                </a:solidFill>
                <a:effectLst/>
                <a:uLnTx/>
                <a:uFillTx/>
                <a:latin typeface="Georgia" panose="02040502050405020303" pitchFamily="18" charset="0"/>
                <a:ea typeface="Times New Roman" pitchFamily="34" charset="-122"/>
                <a:cs typeface="Times New Roman" pitchFamily="34" charset="-120"/>
              </a:rPr>
              <a:t>Session 2: Modelling approach and Statistical learning models</a:t>
            </a:r>
            <a:endParaRPr kumimoji="0" lang="en-US" sz="135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21" name="Rectangle 20"/>
          <p:cNvSpPr/>
          <p:nvPr/>
        </p:nvSpPr>
        <p:spPr>
          <a:xfrm>
            <a:off x="590088" y="4884301"/>
            <a:ext cx="9708681" cy="1080062"/>
          </a:xfrm>
          <a:prstGeom prst="rec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Applications in the literature.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A real policy-relevant application: the case of the first Atlas of energy poverty of Spain.</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50" b="0" i="0" u="none" strike="noStrike" kern="1200" cap="none" spc="0" normalizeH="0" baseline="0" noProof="0" dirty="0">
                <a:ln>
                  <a:noFill/>
                </a:ln>
                <a:solidFill>
                  <a:prstClr val="black"/>
                </a:solidFill>
                <a:effectLst/>
                <a:uLnTx/>
                <a:uFillTx/>
                <a:latin typeface="Georgia" panose="02040502050405020303" pitchFamily="18" charset="0"/>
                <a:ea typeface="+mn-ea"/>
                <a:cs typeface="Arial" panose="020B0604020202020204" pitchFamily="34" charset="0"/>
              </a:rPr>
              <a:t>Open discussion and brainstorming</a:t>
            </a:r>
          </a:p>
        </p:txBody>
      </p:sp>
      <p:sp>
        <p:nvSpPr>
          <p:cNvPr id="25" name="Text 7"/>
          <p:cNvSpPr/>
          <p:nvPr/>
        </p:nvSpPr>
        <p:spPr>
          <a:xfrm>
            <a:off x="568296" y="4692812"/>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1" u="none" strike="noStrike" kern="1200" cap="none" spc="0" normalizeH="0" baseline="0" noProof="0" dirty="0">
                <a:ln>
                  <a:noFill/>
                </a:ln>
                <a:solidFill>
                  <a:srgbClr val="666666"/>
                </a:solidFill>
                <a:effectLst/>
                <a:uLnTx/>
                <a:uFillTx/>
                <a:latin typeface="Georgia" panose="02040502050405020303" pitchFamily="18" charset="0"/>
                <a:ea typeface="Times New Roman" pitchFamily="34" charset="-122"/>
                <a:cs typeface="Times New Roman" pitchFamily="34" charset="-120"/>
              </a:rPr>
              <a:t>Session 3: Applications and policy implications</a:t>
            </a:r>
            <a:endParaRPr kumimoji="0" lang="en-US" sz="1350" b="0" i="0" u="none" strike="noStrike" kern="1200" cap="none" spc="0" normalizeH="0" baseline="0" noProof="0" dirty="0">
              <a:ln>
                <a:noFill/>
              </a:ln>
              <a:solidFill>
                <a:prstClr val="black"/>
              </a:solidFill>
              <a:effectLst/>
              <a:uLnTx/>
              <a:uFillTx/>
              <a:latin typeface="Georgia" panose="02040502050405020303" pitchFamily="18" charset="0"/>
              <a:ea typeface="+mn-ea"/>
              <a:cs typeface="+mn-cs"/>
            </a:endParaRPr>
          </a:p>
        </p:txBody>
      </p:sp>
      <p:sp>
        <p:nvSpPr>
          <p:cNvPr id="26" name="Text 4"/>
          <p:cNvSpPr/>
          <p:nvPr/>
        </p:nvSpPr>
        <p:spPr>
          <a:xfrm>
            <a:off x="525492" y="6455664"/>
            <a:ext cx="9052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Using statistical learning models with household survey microdata</a:t>
            </a:r>
          </a:p>
        </p:txBody>
      </p:sp>
      <p:sp>
        <p:nvSpPr>
          <p:cNvPr id="27" name="Text 5"/>
          <p:cNvSpPr/>
          <p:nvPr/>
        </p:nvSpPr>
        <p:spPr>
          <a:xfrm>
            <a:off x="11155680" y="6455664"/>
            <a:ext cx="50292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Arial" pitchFamily="34" charset="0"/>
                <a:ea typeface="+mn-ea"/>
                <a:cs typeface="Arial" pitchFamily="34" charset="-120"/>
              </a:rPr>
              <a:t>5</a:t>
            </a:r>
            <a:endParaRPr kumimoji="0" lang="en-US" sz="10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28" name="Shape 10"/>
          <p:cNvSpPr/>
          <p:nvPr/>
        </p:nvSpPr>
        <p:spPr>
          <a:xfrm>
            <a:off x="594137" y="5964363"/>
            <a:ext cx="11155680" cy="344998"/>
          </a:xfrm>
          <a:prstGeom prst="rect">
            <a:avLst/>
          </a:prstGeom>
          <a:solidFill>
            <a:srgbClr val="F7F7F7"/>
          </a:solidFill>
          <a:ln w="6350">
            <a:solidFill>
              <a:srgbClr val="CCCCCC"/>
            </a:solidFill>
            <a:prstDash val="solid"/>
          </a:ln>
        </p:spPr>
      </p:sp>
      <p:sp>
        <p:nvSpPr>
          <p:cNvPr id="29" name="Text 11"/>
          <p:cNvSpPr/>
          <p:nvPr/>
        </p:nvSpPr>
        <p:spPr>
          <a:xfrm>
            <a:off x="789998" y="6007938"/>
            <a:ext cx="1143000" cy="244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B1E1E"/>
                </a:solidFill>
                <a:effectLst/>
                <a:uLnTx/>
                <a:uFillTx/>
                <a:latin typeface="Arial" pitchFamily="34" charset="0"/>
                <a:ea typeface="Arial" pitchFamily="34" charset="-122"/>
                <a:cs typeface="Arial" pitchFamily="34" charset="-120"/>
              </a:rPr>
              <a:t>Note</a:t>
            </a:r>
            <a:endParaRPr kumimoji="0" lang="en-US" sz="1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30" name="Text 12"/>
          <p:cNvSpPr/>
          <p:nvPr/>
        </p:nvSpPr>
        <p:spPr>
          <a:xfrm>
            <a:off x="1259190" y="5897199"/>
            <a:ext cx="9235440" cy="434740"/>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Each hands-on includes unsolved and solved R scripts</a:t>
            </a:r>
          </a:p>
        </p:txBody>
      </p:sp>
    </p:spTree>
    <p:extLst>
      <p:ext uri="{BB962C8B-B14F-4D97-AF65-F5344CB8AC3E}">
        <p14:creationId xmlns:p14="http://schemas.microsoft.com/office/powerpoint/2010/main" val="178352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123B66"/>
          </a:solidFill>
          <a:ln w="12700">
            <a:solidFill>
              <a:srgbClr val="123B66"/>
            </a:solidFill>
            <a:prstDash val="solid"/>
          </a:ln>
        </p:spPr>
      </p:sp>
      <p:sp>
        <p:nvSpPr>
          <p:cNvPr id="3" name="Text 1"/>
          <p:cNvSpPr/>
          <p:nvPr/>
        </p:nvSpPr>
        <p:spPr>
          <a:xfrm>
            <a:off x="502920" y="137160"/>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Arial" pitchFamily="34" charset="0"/>
                <a:ea typeface="Arial" pitchFamily="34" charset="-122"/>
                <a:cs typeface="Arial" pitchFamily="34" charset="-120"/>
              </a:rPr>
              <a:t>Session 0: Introduction</a:t>
            </a:r>
            <a:endParaRPr kumimoji="0" lang="en-US" sz="1400" b="0" i="0" u="none" strike="noStrike" kern="1200" cap="none" spc="0" normalizeH="0" baseline="0" noProof="0" dirty="0">
              <a:ln>
                <a:noFill/>
              </a:ln>
              <a:solidFill>
                <a:prstClr val="white">
                  <a:lumMod val="95000"/>
                </a:prstClr>
              </a:solidFill>
              <a:effectLst/>
              <a:uLnTx/>
              <a:uFillTx/>
              <a:latin typeface="Times New Roman"/>
              <a:ea typeface="+mn-ea"/>
              <a:cs typeface="+mn-cs"/>
            </a:endParaRPr>
          </a:p>
        </p:txBody>
      </p:sp>
      <p:sp>
        <p:nvSpPr>
          <p:cNvPr id="5" name="Shape 3"/>
          <p:cNvSpPr/>
          <p:nvPr/>
        </p:nvSpPr>
        <p:spPr>
          <a:xfrm>
            <a:off x="502920" y="6382512"/>
            <a:ext cx="11155680" cy="0"/>
          </a:xfrm>
          <a:prstGeom prst="line">
            <a:avLst/>
          </a:prstGeom>
          <a:noFill/>
          <a:ln w="9525">
            <a:solidFill>
              <a:srgbClr val="B8C6D1"/>
            </a:solidFill>
            <a:prstDash val="solid"/>
          </a:ln>
        </p:spPr>
      </p:sp>
      <p:sp>
        <p:nvSpPr>
          <p:cNvPr id="8" name="Text 6"/>
          <p:cNvSpPr/>
          <p:nvPr/>
        </p:nvSpPr>
        <p:spPr>
          <a:xfrm>
            <a:off x="502920" y="393192"/>
            <a:ext cx="1115568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3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rPr>
              <a:t>Course materials repository</a:t>
            </a:r>
          </a:p>
        </p:txBody>
      </p:sp>
      <p:sp>
        <p:nvSpPr>
          <p:cNvPr id="10" name="Shape 8"/>
          <p:cNvSpPr/>
          <p:nvPr/>
        </p:nvSpPr>
        <p:spPr>
          <a:xfrm>
            <a:off x="502920" y="1115568"/>
            <a:ext cx="11155680" cy="0"/>
          </a:xfrm>
          <a:prstGeom prst="line">
            <a:avLst/>
          </a:prstGeom>
          <a:noFill/>
          <a:ln w="12700">
            <a:solidFill>
              <a:srgbClr val="123B66"/>
            </a:solidFill>
            <a:prstDash val="solid"/>
          </a:ln>
        </p:spPr>
      </p:sp>
      <p:sp>
        <p:nvSpPr>
          <p:cNvPr id="13" name="Text 11"/>
          <p:cNvSpPr/>
          <p:nvPr/>
        </p:nvSpPr>
        <p:spPr>
          <a:xfrm>
            <a:off x="6327648" y="1261872"/>
            <a:ext cx="5349240" cy="4892040"/>
          </a:xfrm>
          <a:prstGeom prst="rect">
            <a:avLst/>
          </a:prstGeom>
          <a:noFill/>
          <a:ln/>
        </p:spPr>
        <p:txBody>
          <a:bodyPr wrap="square" lIns="762" tIns="762" rIns="762" bIns="762"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8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26" name="Text 4"/>
          <p:cNvSpPr/>
          <p:nvPr/>
        </p:nvSpPr>
        <p:spPr>
          <a:xfrm>
            <a:off x="525492" y="6455664"/>
            <a:ext cx="9052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Using statistical learning models with household survey microdata</a:t>
            </a:r>
          </a:p>
        </p:txBody>
      </p:sp>
      <p:sp>
        <p:nvSpPr>
          <p:cNvPr id="27" name="Text 5"/>
          <p:cNvSpPr/>
          <p:nvPr/>
        </p:nvSpPr>
        <p:spPr>
          <a:xfrm>
            <a:off x="11155680" y="6455664"/>
            <a:ext cx="50292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Arial" pitchFamily="34" charset="0"/>
                <a:ea typeface="+mn-ea"/>
                <a:cs typeface="Arial" pitchFamily="34" charset="-120"/>
              </a:rPr>
              <a:t>6</a:t>
            </a:r>
            <a:endParaRPr kumimoji="0" lang="en-US" sz="10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24" name="Text 7"/>
          <p:cNvSpPr/>
          <p:nvPr/>
        </p:nvSpPr>
        <p:spPr>
          <a:xfrm>
            <a:off x="477624" y="1268353"/>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1" u="none" strike="noStrike" kern="1200" cap="none" spc="0" normalizeH="0" baseline="0" noProof="0" dirty="0">
                <a:ln>
                  <a:noFill/>
                </a:ln>
                <a:solidFill>
                  <a:srgbClr val="666666"/>
                </a:solidFill>
                <a:effectLst/>
                <a:uLnTx/>
                <a:uFillTx/>
                <a:latin typeface="Times New Roman" pitchFamily="34" charset="0"/>
                <a:ea typeface="Times New Roman" pitchFamily="34" charset="-122"/>
                <a:cs typeface="Times New Roman" pitchFamily="34" charset="-120"/>
              </a:rPr>
              <a:t>Where to find the course materials and how they are organised</a:t>
            </a:r>
            <a:endParaRPr kumimoji="0" lang="en-US" sz="135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4" name="Shape 10">
            <a:extLst>
              <a:ext uri="{FF2B5EF4-FFF2-40B4-BE49-F238E27FC236}">
                <a16:creationId xmlns:a16="http://schemas.microsoft.com/office/drawing/2014/main" id="{EF12FB3C-5BF7-1903-F935-2121B5C03A27}"/>
              </a:ext>
            </a:extLst>
          </p:cNvPr>
          <p:cNvSpPr/>
          <p:nvPr/>
        </p:nvSpPr>
        <p:spPr>
          <a:xfrm>
            <a:off x="475488" y="1695457"/>
            <a:ext cx="11155680" cy="407663"/>
          </a:xfrm>
          <a:prstGeom prst="rect">
            <a:avLst/>
          </a:prstGeom>
          <a:solidFill>
            <a:srgbClr val="F7F7F7"/>
          </a:solidFill>
          <a:ln w="6350">
            <a:solidFill>
              <a:srgbClr val="CCCCCC"/>
            </a:solidFill>
            <a:prstDash val="solid"/>
          </a:ln>
        </p:spPr>
      </p:sp>
      <p:sp>
        <p:nvSpPr>
          <p:cNvPr id="6" name="Text 11">
            <a:extLst>
              <a:ext uri="{FF2B5EF4-FFF2-40B4-BE49-F238E27FC236}">
                <a16:creationId xmlns:a16="http://schemas.microsoft.com/office/drawing/2014/main" id="{A5414A41-363E-6242-2E4F-6C293B5A951F}"/>
              </a:ext>
            </a:extLst>
          </p:cNvPr>
          <p:cNvSpPr/>
          <p:nvPr/>
        </p:nvSpPr>
        <p:spPr>
          <a:xfrm>
            <a:off x="658368" y="1783929"/>
            <a:ext cx="11430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B1E1E"/>
                </a:solidFill>
                <a:effectLst/>
                <a:uLnTx/>
                <a:uFillTx/>
                <a:latin typeface="Arial" pitchFamily="34" charset="0"/>
                <a:ea typeface="Arial" pitchFamily="34" charset="-122"/>
                <a:cs typeface="Arial" pitchFamily="34" charset="-120"/>
              </a:rPr>
              <a:t>Repository</a:t>
            </a:r>
            <a:endParaRPr kumimoji="0" lang="en-US" sz="1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7" name="Text 12">
            <a:extLst>
              <a:ext uri="{FF2B5EF4-FFF2-40B4-BE49-F238E27FC236}">
                <a16:creationId xmlns:a16="http://schemas.microsoft.com/office/drawing/2014/main" id="{15D0BDC6-7355-8A2F-CA5A-AE707D09061B}"/>
              </a:ext>
            </a:extLst>
          </p:cNvPr>
          <p:cNvSpPr/>
          <p:nvPr/>
        </p:nvSpPr>
        <p:spPr>
          <a:xfrm>
            <a:off x="1682496" y="1753834"/>
            <a:ext cx="9235440" cy="194687"/>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hlinkClick r:id="rId3"/>
              </a:rPr>
              <a:t>https://github.com/bc3LC/lecture_household-surveys-ml</a:t>
            </a: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 </a:t>
            </a:r>
          </a:p>
        </p:txBody>
      </p:sp>
    </p:spTree>
    <p:extLst>
      <p:ext uri="{BB962C8B-B14F-4D97-AF65-F5344CB8AC3E}">
        <p14:creationId xmlns:p14="http://schemas.microsoft.com/office/powerpoint/2010/main" val="373233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123B66"/>
          </a:solidFill>
          <a:ln w="12700">
            <a:solidFill>
              <a:srgbClr val="123B66"/>
            </a:solidFill>
            <a:prstDash val="solid"/>
          </a:ln>
        </p:spPr>
      </p:sp>
      <p:sp>
        <p:nvSpPr>
          <p:cNvPr id="3" name="Text 1"/>
          <p:cNvSpPr/>
          <p:nvPr/>
        </p:nvSpPr>
        <p:spPr>
          <a:xfrm>
            <a:off x="502920" y="137160"/>
            <a:ext cx="8046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95000"/>
                  </a:prstClr>
                </a:solidFill>
                <a:effectLst/>
                <a:uLnTx/>
                <a:uFillTx/>
                <a:latin typeface="Arial" pitchFamily="34" charset="0"/>
                <a:ea typeface="Arial" pitchFamily="34" charset="-122"/>
                <a:cs typeface="Arial" pitchFamily="34" charset="-120"/>
              </a:rPr>
              <a:t>Session 0: Introduction</a:t>
            </a:r>
            <a:endParaRPr kumimoji="0" lang="en-US" sz="1400" b="0" i="0" u="none" strike="noStrike" kern="1200" cap="none" spc="0" normalizeH="0" baseline="0" noProof="0" dirty="0">
              <a:ln>
                <a:noFill/>
              </a:ln>
              <a:solidFill>
                <a:prstClr val="white">
                  <a:lumMod val="95000"/>
                </a:prstClr>
              </a:solidFill>
              <a:effectLst/>
              <a:uLnTx/>
              <a:uFillTx/>
              <a:latin typeface="Times New Roman"/>
              <a:ea typeface="+mn-ea"/>
              <a:cs typeface="+mn-cs"/>
            </a:endParaRPr>
          </a:p>
        </p:txBody>
      </p:sp>
      <p:sp>
        <p:nvSpPr>
          <p:cNvPr id="5" name="Shape 3"/>
          <p:cNvSpPr/>
          <p:nvPr/>
        </p:nvSpPr>
        <p:spPr>
          <a:xfrm>
            <a:off x="502920" y="6382512"/>
            <a:ext cx="11155680" cy="0"/>
          </a:xfrm>
          <a:prstGeom prst="line">
            <a:avLst/>
          </a:prstGeom>
          <a:noFill/>
          <a:ln w="9525">
            <a:solidFill>
              <a:srgbClr val="B8C6D1"/>
            </a:solidFill>
            <a:prstDash val="solid"/>
          </a:ln>
        </p:spPr>
      </p:sp>
      <p:sp>
        <p:nvSpPr>
          <p:cNvPr id="8" name="Text 6"/>
          <p:cNvSpPr/>
          <p:nvPr/>
        </p:nvSpPr>
        <p:spPr>
          <a:xfrm>
            <a:off x="502920" y="393192"/>
            <a:ext cx="11155680" cy="384048"/>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300" b="1" dirty="0">
                <a:solidFill>
                  <a:prstClr val="white"/>
                </a:solidFill>
                <a:latin typeface="Arial" pitchFamily="34" charset="0"/>
                <a:ea typeface="Arial" pitchFamily="34" charset="-122"/>
                <a:cs typeface="Arial" pitchFamily="34" charset="-120"/>
              </a:rPr>
              <a:t>Software requirements</a:t>
            </a:r>
            <a:endParaRPr kumimoji="0" lang="en-GB" sz="2300" b="1" i="0" u="none" strike="noStrike" kern="1200" cap="none" spc="0" normalizeH="0" baseline="0" noProof="0" dirty="0">
              <a:ln>
                <a:noFill/>
              </a:ln>
              <a:solidFill>
                <a:prstClr val="white"/>
              </a:solidFill>
              <a:effectLst/>
              <a:uLnTx/>
              <a:uFillTx/>
              <a:latin typeface="Arial" pitchFamily="34" charset="0"/>
              <a:ea typeface="Arial" pitchFamily="34" charset="-122"/>
              <a:cs typeface="Arial" pitchFamily="34" charset="-120"/>
            </a:endParaRPr>
          </a:p>
        </p:txBody>
      </p:sp>
      <p:sp>
        <p:nvSpPr>
          <p:cNvPr id="10" name="Shape 8"/>
          <p:cNvSpPr/>
          <p:nvPr/>
        </p:nvSpPr>
        <p:spPr>
          <a:xfrm>
            <a:off x="502920" y="1115568"/>
            <a:ext cx="11155680" cy="0"/>
          </a:xfrm>
          <a:prstGeom prst="line">
            <a:avLst/>
          </a:prstGeom>
          <a:noFill/>
          <a:ln w="12700">
            <a:solidFill>
              <a:srgbClr val="123B66"/>
            </a:solidFill>
            <a:prstDash val="solid"/>
          </a:ln>
        </p:spPr>
      </p:sp>
      <p:sp>
        <p:nvSpPr>
          <p:cNvPr id="26" name="Text 4"/>
          <p:cNvSpPr/>
          <p:nvPr/>
        </p:nvSpPr>
        <p:spPr>
          <a:xfrm>
            <a:off x="525492" y="6455664"/>
            <a:ext cx="9052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666666"/>
                </a:solidFill>
                <a:effectLst/>
                <a:uLnTx/>
                <a:uFillTx/>
                <a:latin typeface="Arial" pitchFamily="34" charset="0"/>
                <a:ea typeface="Arial" pitchFamily="34" charset="-122"/>
                <a:cs typeface="Arial" pitchFamily="34" charset="-120"/>
              </a:rPr>
              <a:t>Using statistical learning models with household survey microdata</a:t>
            </a:r>
          </a:p>
        </p:txBody>
      </p:sp>
      <p:sp>
        <p:nvSpPr>
          <p:cNvPr id="27" name="Text 5"/>
          <p:cNvSpPr/>
          <p:nvPr/>
        </p:nvSpPr>
        <p:spPr>
          <a:xfrm>
            <a:off x="11155680" y="6455664"/>
            <a:ext cx="50292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666666"/>
                </a:solidFill>
                <a:effectLst/>
                <a:uLnTx/>
                <a:uFillTx/>
                <a:latin typeface="Arial" pitchFamily="34" charset="0"/>
                <a:ea typeface="+mn-ea"/>
                <a:cs typeface="Arial" pitchFamily="34" charset="-120"/>
              </a:rPr>
              <a:t>6</a:t>
            </a:r>
            <a:endParaRPr kumimoji="0" lang="en-US" sz="10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24" name="Text 7"/>
          <p:cNvSpPr/>
          <p:nvPr/>
        </p:nvSpPr>
        <p:spPr>
          <a:xfrm>
            <a:off x="477624" y="1268353"/>
            <a:ext cx="11155680" cy="274320"/>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350" b="0" i="1" u="none" strike="noStrike" kern="1200" cap="none" spc="0" normalizeH="0" baseline="0" noProof="0" dirty="0">
                <a:ln>
                  <a:noFill/>
                </a:ln>
                <a:solidFill>
                  <a:srgbClr val="666666"/>
                </a:solidFill>
                <a:effectLst/>
                <a:uLnTx/>
                <a:uFillTx/>
                <a:latin typeface="Times New Roman" pitchFamily="34" charset="0"/>
                <a:ea typeface="Times New Roman" pitchFamily="34" charset="-122"/>
                <a:cs typeface="Times New Roman" pitchFamily="34" charset="-120"/>
              </a:rPr>
              <a:t>Download and install the required software</a:t>
            </a:r>
          </a:p>
        </p:txBody>
      </p:sp>
      <p:sp>
        <p:nvSpPr>
          <p:cNvPr id="4" name="Shape 10">
            <a:extLst>
              <a:ext uri="{FF2B5EF4-FFF2-40B4-BE49-F238E27FC236}">
                <a16:creationId xmlns:a16="http://schemas.microsoft.com/office/drawing/2014/main" id="{EA41D4E9-6820-2573-3712-9CBA86B98FC5}"/>
              </a:ext>
            </a:extLst>
          </p:cNvPr>
          <p:cNvSpPr/>
          <p:nvPr/>
        </p:nvSpPr>
        <p:spPr>
          <a:xfrm>
            <a:off x="475488" y="1670689"/>
            <a:ext cx="11155680" cy="734184"/>
          </a:xfrm>
          <a:prstGeom prst="rect">
            <a:avLst/>
          </a:prstGeom>
          <a:solidFill>
            <a:srgbClr val="F7F7F7"/>
          </a:solidFill>
          <a:ln w="6350">
            <a:solidFill>
              <a:srgbClr val="CCCCCC"/>
            </a:solidFill>
            <a:prstDash val="solid"/>
          </a:ln>
        </p:spPr>
      </p:sp>
      <p:sp>
        <p:nvSpPr>
          <p:cNvPr id="6" name="Text 11">
            <a:extLst>
              <a:ext uri="{FF2B5EF4-FFF2-40B4-BE49-F238E27FC236}">
                <a16:creationId xmlns:a16="http://schemas.microsoft.com/office/drawing/2014/main" id="{A5166248-5E08-F124-6A86-3EEF3E6B84F6}"/>
              </a:ext>
            </a:extLst>
          </p:cNvPr>
          <p:cNvSpPr/>
          <p:nvPr/>
        </p:nvSpPr>
        <p:spPr>
          <a:xfrm>
            <a:off x="702564" y="1806037"/>
            <a:ext cx="11430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B1E1E"/>
                </a:solidFill>
                <a:effectLst/>
                <a:uLnTx/>
                <a:uFillTx/>
                <a:latin typeface="Arial" pitchFamily="34" charset="0"/>
                <a:ea typeface="Arial" pitchFamily="34" charset="-122"/>
                <a:cs typeface="Arial" pitchFamily="34" charset="-120"/>
              </a:rPr>
              <a:t>Links</a:t>
            </a:r>
            <a:endParaRPr kumimoji="0" lang="en-US" sz="1200" b="0"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7" name="Text 12">
            <a:extLst>
              <a:ext uri="{FF2B5EF4-FFF2-40B4-BE49-F238E27FC236}">
                <a16:creationId xmlns:a16="http://schemas.microsoft.com/office/drawing/2014/main" id="{E48E36BE-EDE1-D1B9-BEF0-AA7B0F4899C4}"/>
              </a:ext>
            </a:extLst>
          </p:cNvPr>
          <p:cNvSpPr/>
          <p:nvPr/>
        </p:nvSpPr>
        <p:spPr>
          <a:xfrm>
            <a:off x="1682496" y="1753835"/>
            <a:ext cx="9235440" cy="559598"/>
          </a:xfrm>
          <a:prstGeom prst="rect">
            <a:avLst/>
          </a:prstGeom>
          <a:noFill/>
          <a:ln/>
        </p:spPr>
        <p:txBody>
          <a:bodyPr wrap="square" lIns="0" tIns="0" rIns="0" bIns="0"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**R**    Download it from: </a:t>
            </a: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hlinkClick r:id="rId3"/>
              </a:rPr>
              <a:t>https://www.r-project.org/</a:t>
            </a: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**RStudio**    Download it from: </a:t>
            </a: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hlinkClick r:id="rId4"/>
              </a:rPr>
              <a:t>https://www.rstudio.com/</a:t>
            </a:r>
            <a:r>
              <a:rPr kumimoji="0" lang="en-GB" sz="1250" b="0" i="1" u="none" strike="noStrike" kern="1200" cap="none" spc="0" normalizeH="0" baseline="0" noProof="0" dirty="0">
                <a:ln>
                  <a:noFill/>
                </a:ln>
                <a:solidFill>
                  <a:srgbClr val="111111"/>
                </a:solidFill>
                <a:effectLst/>
                <a:uLnTx/>
                <a:uFillTx/>
                <a:latin typeface="Georgia" panose="02040502050405020303" pitchFamily="18" charset="0"/>
                <a:ea typeface="Times New Roman" pitchFamily="34" charset="-122"/>
                <a:cs typeface="Times New Roman" pitchFamily="34" charset="-120"/>
              </a:rPr>
              <a:t> </a:t>
            </a:r>
          </a:p>
        </p:txBody>
      </p:sp>
    </p:spTree>
    <p:extLst>
      <p:ext uri="{BB962C8B-B14F-4D97-AF65-F5344CB8AC3E}">
        <p14:creationId xmlns:p14="http://schemas.microsoft.com/office/powerpoint/2010/main" val="90897531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925</Words>
  <Application>Microsoft Office PowerPoint</Application>
  <PresentationFormat>Widescreen</PresentationFormat>
  <Paragraphs>99</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Calibri</vt:lpstr>
      <vt:lpstr>Courier New</vt:lpstr>
      <vt:lpstr>Georgia</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Manuel Tomás</dc:creator>
  <cp:lastModifiedBy>Manuel Tomás</cp:lastModifiedBy>
  <cp:revision>3</cp:revision>
  <dcterms:created xsi:type="dcterms:W3CDTF">2026-06-09T14:51:08Z</dcterms:created>
  <dcterms:modified xsi:type="dcterms:W3CDTF">2026-06-09T15:44:51Z</dcterms:modified>
</cp:coreProperties>
</file>